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786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8920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絆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0074" y="944125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PROJECT DEVELOPMENT – SWP391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442380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6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
</a:t>
            </a:r>
            <a:r>
              <a:rPr lang="en-US" sz="66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Nihongo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665064" y="3454060"/>
            <a:ext cx="348551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AI-powered, personalized platform for learning Japanese — JLPT N5 to N1.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48920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Team  ·  2026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8AE158-97CF-D61E-38CC-66841FA34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974" y="1635888"/>
            <a:ext cx="7347818" cy="3486445"/>
          </a:xfrm>
          <a:prstGeom prst="rect">
            <a:avLst/>
          </a:prstGeom>
        </p:spPr>
      </p:pic>
      <p:sp>
        <p:nvSpPr>
          <p:cNvPr id="19" name="Shape 8">
            <a:extLst>
              <a:ext uri="{FF2B5EF4-FFF2-40B4-BE49-F238E27FC236}">
                <a16:creationId xmlns:a16="http://schemas.microsoft.com/office/drawing/2014/main" id="{13FE40B0-6F13-C0FA-63AE-88EC9C78A946}"/>
              </a:ext>
            </a:extLst>
          </p:cNvPr>
          <p:cNvSpPr/>
          <p:nvPr/>
        </p:nvSpPr>
        <p:spPr>
          <a:xfrm>
            <a:off x="731520" y="4868404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6CD1D62E-3538-72B7-8973-88B643758643}"/>
              </a:ext>
            </a:extLst>
          </p:cNvPr>
          <p:cNvSpPr/>
          <p:nvPr/>
        </p:nvSpPr>
        <p:spPr>
          <a:xfrm>
            <a:off x="671494" y="485661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Sensei</a:t>
            </a:r>
            <a:endParaRPr lang="en-US" sz="11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A92AFE79-F1FF-31CB-370B-DA3139BD7AC8}"/>
              </a:ext>
            </a:extLst>
          </p:cNvPr>
          <p:cNvSpPr/>
          <p:nvPr/>
        </p:nvSpPr>
        <p:spPr>
          <a:xfrm>
            <a:off x="731520" y="4413359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4DABC585-350B-3D28-FC08-510047109C39}"/>
              </a:ext>
            </a:extLst>
          </p:cNvPr>
          <p:cNvSpPr/>
          <p:nvPr/>
        </p:nvSpPr>
        <p:spPr>
          <a:xfrm>
            <a:off x="731520" y="43958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Roadmap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01" name="Text 101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</a:p>
        </p:txBody>
      </p:sp>
      <p:sp>
        <p:nvSpPr>
          <p:cNvPr id="102" name="Text 102"/>
          <p:cNvSpPr/>
          <p:nvPr/>
        </p:nvSpPr>
        <p:spPr>
          <a:xfrm>
            <a:off x="685800" y="711200"/>
            <a:ext cx="108204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we’ll </a:t>
            </a: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</a:t>
            </a:r>
          </a:p>
        </p:txBody>
      </p:sp>
      <p:sp>
        <p:nvSpPr>
          <p:cNvPr id="103" name="Shape 103"/>
          <p:cNvSpPr/>
          <p:nvPr/>
        </p:nvSpPr>
        <p:spPr>
          <a:xfrm>
            <a:off x="685800" y="1905000"/>
            <a:ext cx="10820400" cy="6096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04" name="Text 104"/>
          <p:cNvSpPr/>
          <p:nvPr/>
        </p:nvSpPr>
        <p:spPr>
          <a:xfrm>
            <a:off x="939800" y="1905000"/>
            <a:ext cx="101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</a:p>
        </p:txBody>
      </p:sp>
      <p:sp>
        <p:nvSpPr>
          <p:cNvPr id="105" name="Text 105"/>
          <p:cNvSpPr/>
          <p:nvPr/>
        </p:nvSpPr>
        <p:spPr>
          <a:xfrm>
            <a:off x="2095500" y="1905000"/>
            <a:ext cx="9144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</a:p>
        </p:txBody>
      </p:sp>
      <p:sp>
        <p:nvSpPr>
          <p:cNvPr id="106" name="Shape 106"/>
          <p:cNvSpPr/>
          <p:nvPr/>
        </p:nvSpPr>
        <p:spPr>
          <a:xfrm>
            <a:off x="685800" y="2641600"/>
            <a:ext cx="10820400" cy="6096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07" name="Text 107"/>
          <p:cNvSpPr/>
          <p:nvPr/>
        </p:nvSpPr>
        <p:spPr>
          <a:xfrm>
            <a:off x="939800" y="2641600"/>
            <a:ext cx="101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</a:t>
            </a:r>
          </a:p>
        </p:txBody>
      </p:sp>
      <p:sp>
        <p:nvSpPr>
          <p:cNvPr id="108" name="Text 108"/>
          <p:cNvSpPr/>
          <p:nvPr/>
        </p:nvSpPr>
        <p:spPr>
          <a:xfrm>
            <a:off x="2095500" y="2641600"/>
            <a:ext cx="9144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Systems</a:t>
            </a:r>
          </a:p>
        </p:txBody>
      </p:sp>
      <p:sp>
        <p:nvSpPr>
          <p:cNvPr id="109" name="Shape 109"/>
          <p:cNvSpPr/>
          <p:nvPr/>
        </p:nvSpPr>
        <p:spPr>
          <a:xfrm>
            <a:off x="685800" y="3378200"/>
            <a:ext cx="10820400" cy="6096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10" name="Text 110"/>
          <p:cNvSpPr/>
          <p:nvPr/>
        </p:nvSpPr>
        <p:spPr>
          <a:xfrm>
            <a:off x="939800" y="3378200"/>
            <a:ext cx="101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</a:t>
            </a:r>
          </a:p>
        </p:txBody>
      </p:sp>
      <p:sp>
        <p:nvSpPr>
          <p:cNvPr id="111" name="Text 111"/>
          <p:cNvSpPr/>
          <p:nvPr/>
        </p:nvSpPr>
        <p:spPr>
          <a:xfrm>
            <a:off x="2095500" y="3378200"/>
            <a:ext cx="9144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Actors &amp; Use Cases</a:t>
            </a:r>
          </a:p>
        </p:txBody>
      </p:sp>
      <p:sp>
        <p:nvSpPr>
          <p:cNvPr id="112" name="Shape 112"/>
          <p:cNvSpPr/>
          <p:nvPr/>
        </p:nvSpPr>
        <p:spPr>
          <a:xfrm>
            <a:off x="685800" y="4114800"/>
            <a:ext cx="10820400" cy="6096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13" name="Text 113"/>
          <p:cNvSpPr/>
          <p:nvPr/>
        </p:nvSpPr>
        <p:spPr>
          <a:xfrm>
            <a:off x="939800" y="4114800"/>
            <a:ext cx="101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</a:t>
            </a:r>
          </a:p>
        </p:txBody>
      </p:sp>
      <p:sp>
        <p:nvSpPr>
          <p:cNvPr id="114" name="Text 114"/>
          <p:cNvSpPr/>
          <p:nvPr/>
        </p:nvSpPr>
        <p:spPr>
          <a:xfrm>
            <a:off x="2095500" y="4114800"/>
            <a:ext cx="9144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 </a:t>
            </a:r>
          </a:p>
        </p:txBody>
      </p:sp>
      <p:sp>
        <p:nvSpPr>
          <p:cNvPr id="115" name="Shape 115"/>
          <p:cNvSpPr/>
          <p:nvPr/>
        </p:nvSpPr>
        <p:spPr>
          <a:xfrm>
            <a:off x="685800" y="4851400"/>
            <a:ext cx="10820400" cy="6096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16" name="Text 116"/>
          <p:cNvSpPr/>
          <p:nvPr/>
        </p:nvSpPr>
        <p:spPr>
          <a:xfrm>
            <a:off x="939800" y="4851400"/>
            <a:ext cx="101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</a:t>
            </a:r>
          </a:p>
        </p:txBody>
      </p:sp>
      <p:sp>
        <p:nvSpPr>
          <p:cNvPr id="117" name="Text 117"/>
          <p:cNvSpPr/>
          <p:nvPr/>
        </p:nvSpPr>
        <p:spPr>
          <a:xfrm>
            <a:off x="2095500" y="4851400"/>
            <a:ext cx="9144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Package</a:t>
            </a:r>
          </a:p>
        </p:txBody>
      </p:sp>
      <p:sp>
        <p:nvSpPr>
          <p:cNvPr id="118" name="Text 118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119" name="Text 119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704773" y="145592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· PROJECT OVERVIEW  — 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773" y="178511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path for everyone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doesn’t 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04773" y="2553208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Self-study today: one track for everyone, no timely feedback.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04773" y="3312160"/>
            <a:ext cx="2533574" cy="14511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941" y="3429000"/>
            <a:ext cx="213123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roadmap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fixed curriculum, whatever the learner’s level.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66947" y="3312160"/>
            <a:ext cx="2533574" cy="14511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8114" y="3429000"/>
            <a:ext cx="213123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instant feedback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Writing, speaking and kanji go uncorrected.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9121" y="3312160"/>
            <a:ext cx="2533574" cy="14511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0287" y="3429000"/>
            <a:ext cx="213123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Tutors don’t scale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1-on-1 help is costly and hard to book.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91294" y="3312160"/>
            <a:ext cx="2533574" cy="14511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92460" y="3429000"/>
            <a:ext cx="213123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Passive content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Textbooks can’t adapt to weak points.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1472523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· PROJECT OVERVIEW  — 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0100" y="1801707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personalized, </a:t>
            </a:r>
            <a:r>
              <a:rPr lang="en-US" sz="31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</a:t>
            </a:r>
            <a:r>
              <a:rPr lang="en-US" sz="31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platform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00100" y="2569803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woven through learning, authoring and assessment.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00100" y="3328755"/>
            <a:ext cx="2533574" cy="1476587"/>
          </a:xfrm>
          <a:prstGeom prst="roundRect">
            <a:avLst>
              <a:gd name="adj" fmla="val 3609"/>
            </a:avLst>
          </a:prstGeom>
          <a:solidFill>
            <a:srgbClr val="AE2826"/>
          </a:solidFill>
          <a:ln w="12700">
            <a:solidFill>
              <a:srgbClr val="AE2826"/>
            </a:solidFill>
            <a:prstDash val="solid"/>
          </a:ln>
          <a:effectLst>
            <a:outerShdw blurRad="101600" dist="38100" dir="5400000" algn="bl" rotWithShape="0">
              <a:srgbClr val="8C0B1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1268" y="3493347"/>
            <a:ext cx="2131238" cy="13329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
</a:t>
            </a: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roadmap
</a:t>
            </a:r>
            <a:r>
              <a:rPr lang="en-US" sz="1100" dirty="0">
                <a:solidFill>
                  <a:srgbClr val="F6E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 the path from current level to target JLPT.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2274" y="3328755"/>
            <a:ext cx="2533574" cy="14765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3442" y="3493347"/>
            <a:ext cx="2131238" cy="13329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Sensei tutor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questions and reads the learner’s own data.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4448" y="3328755"/>
            <a:ext cx="2533574" cy="14765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5616" y="3493347"/>
            <a:ext cx="2131238" cy="13329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authoring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Teachers generate readings, questions and audio.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86621" y="3328755"/>
            <a:ext cx="2533574" cy="14765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7789" y="3493347"/>
            <a:ext cx="2131238" cy="13329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Proctored assessment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Webcam face detection, auto + AI grading.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ope &amp; te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21" name="Text 121"/>
          <p:cNvSpPr/>
          <p:nvPr/>
        </p:nvSpPr>
        <p:spPr>
          <a:xfrm>
            <a:off x="685800" y="98425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· PROJECT OVERVIEW  —  SCOPE &amp; TECH STACK</a:t>
            </a:r>
          </a:p>
        </p:txBody>
      </p:sp>
      <p:sp>
        <p:nvSpPr>
          <p:cNvPr id="122" name="Text 122"/>
          <p:cNvSpPr/>
          <p:nvPr/>
        </p:nvSpPr>
        <p:spPr>
          <a:xfrm>
            <a:off x="685800" y="1301750"/>
            <a:ext cx="108204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&amp; Tech Stack</a:t>
            </a:r>
          </a:p>
        </p:txBody>
      </p:sp>
      <p:sp>
        <p:nvSpPr>
          <p:cNvPr id="123" name="Text 123"/>
          <p:cNvSpPr/>
          <p:nvPr/>
        </p:nvSpPr>
        <p:spPr>
          <a:xfrm>
            <a:off x="685800" y="2196768"/>
            <a:ext cx="508000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· JLPT N5 → N1</a:t>
            </a:r>
          </a:p>
        </p:txBody>
      </p:sp>
      <p:sp>
        <p:nvSpPr>
          <p:cNvPr id="124" name="Shape 124"/>
          <p:cNvSpPr/>
          <p:nvPr/>
        </p:nvSpPr>
        <p:spPr>
          <a:xfrm>
            <a:off x="685800" y="2666668"/>
            <a:ext cx="88900" cy="88900"/>
          </a:xfrm>
          <a:prstGeom prst="roundRect">
            <a:avLst>
              <a:gd name="adj" fmla="val 20000"/>
            </a:avLst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25" name="Text 125"/>
          <p:cNvSpPr/>
          <p:nvPr/>
        </p:nvSpPr>
        <p:spPr>
          <a:xfrm>
            <a:off x="927100" y="2577768"/>
            <a:ext cx="5080000" cy="482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— courses, lessons, vocab, kanji, grammar</a:t>
            </a:r>
          </a:p>
        </p:txBody>
      </p:sp>
      <p:sp>
        <p:nvSpPr>
          <p:cNvPr id="126" name="Shape 126"/>
          <p:cNvSpPr/>
          <p:nvPr/>
        </p:nvSpPr>
        <p:spPr>
          <a:xfrm>
            <a:off x="685800" y="3187368"/>
            <a:ext cx="88900" cy="88900"/>
          </a:xfrm>
          <a:prstGeom prst="roundRect">
            <a:avLst>
              <a:gd name="adj" fmla="val 20000"/>
            </a:avLst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27" name="Text 127"/>
          <p:cNvSpPr/>
          <p:nvPr/>
        </p:nvSpPr>
        <p:spPr>
          <a:xfrm>
            <a:off x="927100" y="3098468"/>
            <a:ext cx="5080000" cy="482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— flashcards, reading, writing, speaking</a:t>
            </a:r>
          </a:p>
        </p:txBody>
      </p:sp>
      <p:sp>
        <p:nvSpPr>
          <p:cNvPr id="128" name="Shape 128"/>
          <p:cNvSpPr/>
          <p:nvPr/>
        </p:nvSpPr>
        <p:spPr>
          <a:xfrm>
            <a:off x="685800" y="3708068"/>
            <a:ext cx="88900" cy="88900"/>
          </a:xfrm>
          <a:prstGeom prst="roundRect">
            <a:avLst>
              <a:gd name="adj" fmla="val 20000"/>
            </a:avLst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29" name="Text 129"/>
          <p:cNvSpPr/>
          <p:nvPr/>
        </p:nvSpPr>
        <p:spPr>
          <a:xfrm>
            <a:off x="927100" y="3619168"/>
            <a:ext cx="5080000" cy="482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 — quizzes, proctored JLPT mock exams</a:t>
            </a:r>
          </a:p>
        </p:txBody>
      </p:sp>
      <p:sp>
        <p:nvSpPr>
          <p:cNvPr id="130" name="Shape 130"/>
          <p:cNvSpPr/>
          <p:nvPr/>
        </p:nvSpPr>
        <p:spPr>
          <a:xfrm>
            <a:off x="685800" y="4228768"/>
            <a:ext cx="88900" cy="88900"/>
          </a:xfrm>
          <a:prstGeom prst="roundRect">
            <a:avLst>
              <a:gd name="adj" fmla="val 20000"/>
            </a:avLst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31" name="Text 131"/>
          <p:cNvSpPr/>
          <p:nvPr/>
        </p:nvSpPr>
        <p:spPr>
          <a:xfrm>
            <a:off x="927100" y="4139868"/>
            <a:ext cx="5080000" cy="482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 — AI roadmap &amp; AI Sensei chat</a:t>
            </a:r>
          </a:p>
        </p:txBody>
      </p:sp>
      <p:sp>
        <p:nvSpPr>
          <p:cNvPr id="132" name="Shape 132"/>
          <p:cNvSpPr/>
          <p:nvPr/>
        </p:nvSpPr>
        <p:spPr>
          <a:xfrm>
            <a:off x="685800" y="4749468"/>
            <a:ext cx="88900" cy="88900"/>
          </a:xfrm>
          <a:prstGeom prst="roundRect">
            <a:avLst>
              <a:gd name="adj" fmla="val 20000"/>
            </a:avLst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33" name="Text 133"/>
          <p:cNvSpPr/>
          <p:nvPr/>
        </p:nvSpPr>
        <p:spPr>
          <a:xfrm>
            <a:off x="927100" y="4660568"/>
            <a:ext cx="5080000" cy="482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 — teachers author content with AI</a:t>
            </a:r>
          </a:p>
        </p:txBody>
      </p:sp>
      <p:sp>
        <p:nvSpPr>
          <p:cNvPr id="134" name="Text 134"/>
          <p:cNvSpPr/>
          <p:nvPr/>
        </p:nvSpPr>
        <p:spPr>
          <a:xfrm>
            <a:off x="6146800" y="2196768"/>
            <a:ext cx="535940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</a:p>
        </p:txBody>
      </p:sp>
      <p:sp>
        <p:nvSpPr>
          <p:cNvPr id="135" name="Shape 135"/>
          <p:cNvSpPr/>
          <p:nvPr/>
        </p:nvSpPr>
        <p:spPr>
          <a:xfrm>
            <a:off x="6146800" y="2577768"/>
            <a:ext cx="5359400" cy="4318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 </a:t>
            </a:r>
            <a:r>
              <a:rPr lang="en-US" sz="13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· Vite · Tailwind</a:t>
            </a:r>
          </a:p>
        </p:txBody>
      </p:sp>
      <p:sp>
        <p:nvSpPr>
          <p:cNvPr id="136" name="Shape 136"/>
          <p:cNvSpPr/>
          <p:nvPr/>
        </p:nvSpPr>
        <p:spPr>
          <a:xfrm>
            <a:off x="6146800" y="3098468"/>
            <a:ext cx="5359400" cy="4318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 </a:t>
            </a:r>
            <a:r>
              <a:rPr lang="en-US" sz="13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· Express REST API (JWT)</a:t>
            </a:r>
          </a:p>
        </p:txBody>
      </p:sp>
      <p:sp>
        <p:nvSpPr>
          <p:cNvPr id="138" name="Shape 138"/>
          <p:cNvSpPr/>
          <p:nvPr/>
        </p:nvSpPr>
        <p:spPr>
          <a:xfrm>
            <a:off x="6146800" y="3617870"/>
            <a:ext cx="5359400" cy="4318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· Auth  </a:t>
            </a:r>
            <a:r>
              <a:rPr lang="en-US" sz="13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— PostgreSQL, GoTrue, Storage</a:t>
            </a:r>
          </a:p>
        </p:txBody>
      </p:sp>
      <p:sp>
        <p:nvSpPr>
          <p:cNvPr id="139" name="Shape 139"/>
          <p:cNvSpPr/>
          <p:nvPr/>
        </p:nvSpPr>
        <p:spPr>
          <a:xfrm>
            <a:off x="6146800" y="4138570"/>
            <a:ext cx="5359400" cy="4318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 </a:t>
            </a:r>
            <a:r>
              <a:rPr lang="en-US" sz="13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FPT AI Factory (OpenAI-compatible)</a:t>
            </a:r>
          </a:p>
        </p:txBody>
      </p:sp>
      <p:sp>
        <p:nvSpPr>
          <p:cNvPr id="140" name="Shape 140"/>
          <p:cNvSpPr/>
          <p:nvPr/>
        </p:nvSpPr>
        <p:spPr>
          <a:xfrm>
            <a:off x="6146800" y="4659270"/>
            <a:ext cx="5359400" cy="431800"/>
          </a:xfrm>
          <a:prstGeom prst="roundRect">
            <a:avLst>
              <a:gd name="adj" fmla="val 40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Extras  </a:t>
            </a:r>
            <a:r>
              <a:rPr lang="en-US" sz="135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MediaPipe proctoring · SMTP · SePay</a:t>
            </a:r>
          </a:p>
        </p:txBody>
      </p:sp>
      <p:sp>
        <p:nvSpPr>
          <p:cNvPr id="141" name="Text 141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142" name="Text 142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e Mazii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44" name="Text 144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 · REFERENCE SYSTEMS  —  MAZII</a:t>
            </a:r>
          </a:p>
        </p:txBody>
      </p:sp>
      <p:sp>
        <p:nvSpPr>
          <p:cNvPr id="145" name="Text 145"/>
          <p:cNvSpPr/>
          <p:nvPr/>
        </p:nvSpPr>
        <p:spPr>
          <a:xfrm>
            <a:off x="685800" y="711200"/>
            <a:ext cx="108204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Mazii — the </a:t>
            </a: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dictionary</a:t>
            </a:r>
            <a:r>
              <a:rPr lang="en-US" sz="3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everyone has</a:t>
            </a:r>
          </a:p>
        </p:txBody>
      </p:sp>
      <p:sp>
        <p:nvSpPr>
          <p:cNvPr id="146" name="Shape 146"/>
          <p:cNvSpPr/>
          <p:nvPr/>
        </p:nvSpPr>
        <p:spPr>
          <a:xfrm>
            <a:off x="685801" y="1663700"/>
            <a:ext cx="4819650" cy="1308100"/>
          </a:xfrm>
          <a:prstGeom prst="roundRect">
            <a:avLst>
              <a:gd name="adj" fmla="val 25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47" name="Shape 147"/>
          <p:cNvSpPr/>
          <p:nvPr/>
        </p:nvSpPr>
        <p:spPr>
          <a:xfrm>
            <a:off x="685800" y="1663700"/>
            <a:ext cx="50800" cy="13081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48" name="Text 148"/>
          <p:cNvSpPr/>
          <p:nvPr/>
        </p:nvSpPr>
        <p:spPr>
          <a:xfrm>
            <a:off x="827707" y="1746250"/>
            <a:ext cx="4653171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4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</a:p>
          <a:p>
            <a:pPr marL="0" indent="0" algn="l">
              <a:lnSpc>
                <a:spcPct val="128000"/>
              </a:lnSpc>
              <a:spcBef>
                <a:spcPts val="1000"/>
              </a:spcBef>
              <a:buNone/>
            </a:pPr>
            <a:r>
              <a:rPr lang="en-US" sz="14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Japanese–Vietnamese dictionary app (web + mobile): word and kanji lookup, example sentences, saved word lists and JLPT practice tests.</a:t>
            </a:r>
          </a:p>
        </p:txBody>
      </p:sp>
      <p:sp>
        <p:nvSpPr>
          <p:cNvPr id="149" name="Shape 149"/>
          <p:cNvSpPr/>
          <p:nvPr/>
        </p:nvSpPr>
        <p:spPr>
          <a:xfrm>
            <a:off x="685801" y="3098800"/>
            <a:ext cx="4819650" cy="1308100"/>
          </a:xfrm>
          <a:prstGeom prst="roundRect">
            <a:avLst>
              <a:gd name="adj" fmla="val 25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50" name="Shape 150"/>
          <p:cNvSpPr/>
          <p:nvPr/>
        </p:nvSpPr>
        <p:spPr>
          <a:xfrm>
            <a:off x="685800" y="3098800"/>
            <a:ext cx="50800" cy="13081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51" name="Text 151"/>
          <p:cNvSpPr/>
          <p:nvPr/>
        </p:nvSpPr>
        <p:spPr>
          <a:xfrm>
            <a:off x="827706" y="3165475"/>
            <a:ext cx="4653171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4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ADOPTED</a:t>
            </a:r>
          </a:p>
          <a:p>
            <a:pPr marL="0" indent="0" algn="l">
              <a:lnSpc>
                <a:spcPct val="128000"/>
              </a:lnSpc>
              <a:spcBef>
                <a:spcPts val="1000"/>
              </a:spcBef>
              <a:buNone/>
            </a:pPr>
            <a:r>
              <a:rPr lang="en-US" sz="14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layered lexical model — entry → sense → kanji → example — became our dictionary_module (~17k entries, 28k senses), plus lookup-then-save-to-study-list.</a:t>
            </a:r>
          </a:p>
        </p:txBody>
      </p:sp>
      <p:sp>
        <p:nvSpPr>
          <p:cNvPr id="152" name="Shape 152"/>
          <p:cNvSpPr/>
          <p:nvPr/>
        </p:nvSpPr>
        <p:spPr>
          <a:xfrm>
            <a:off x="685801" y="4533900"/>
            <a:ext cx="4819650" cy="13081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53" name="Shape 153"/>
          <p:cNvSpPr/>
          <p:nvPr/>
        </p:nvSpPr>
        <p:spPr>
          <a:xfrm>
            <a:off x="685800" y="4533900"/>
            <a:ext cx="50800" cy="1308100"/>
          </a:xfrm>
          <a:prstGeom prst="rect">
            <a:avLst/>
          </a:prstGeom>
          <a:solidFill>
            <a:srgbClr val="7C7168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54" name="Text 154"/>
          <p:cNvSpPr/>
          <p:nvPr/>
        </p:nvSpPr>
        <p:spPr>
          <a:xfrm>
            <a:off x="827706" y="4608615"/>
            <a:ext cx="4505187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4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WE CLOSE</a:t>
            </a:r>
          </a:p>
          <a:p>
            <a:pPr marL="0" indent="0" algn="l">
              <a:lnSpc>
                <a:spcPct val="128000"/>
              </a:lnSpc>
              <a:spcBef>
                <a:spcPts val="1000"/>
              </a:spcBef>
              <a:buNone/>
            </a:pPr>
            <a:r>
              <a:rPr lang="en-US" sz="14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structured course path, no teacher-authored lessons, no adaptive study plan and no proctored exam. It is a reference tool, not a curriculum.</a:t>
            </a:r>
          </a:p>
        </p:txBody>
      </p:sp>
      <p:sp>
        <p:nvSpPr>
          <p:cNvPr id="156" name="Text 156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157" name="Text 157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BFEAD9-3BF6-CE0F-50CC-FB31D000B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578"/>
          <a:stretch>
            <a:fillRect/>
          </a:stretch>
        </p:blipFill>
        <p:spPr>
          <a:xfrm>
            <a:off x="5596557" y="1746250"/>
            <a:ext cx="6070478" cy="3852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e Bunpr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59" name="Text 159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 · REFERENCE SYSTEMS  —  BUNPRO</a:t>
            </a:r>
          </a:p>
        </p:txBody>
      </p:sp>
      <p:sp>
        <p:nvSpPr>
          <p:cNvPr id="160" name="Text 160"/>
          <p:cNvSpPr/>
          <p:nvPr/>
        </p:nvSpPr>
        <p:spPr>
          <a:xfrm>
            <a:off x="685800" y="711200"/>
            <a:ext cx="108204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Bunpro — </a:t>
            </a: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spaced repetition</a:t>
            </a:r>
            <a:r>
              <a:rPr lang="en-US" sz="3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done well</a:t>
            </a:r>
          </a:p>
        </p:txBody>
      </p:sp>
      <p:sp>
        <p:nvSpPr>
          <p:cNvPr id="161" name="Shape 161"/>
          <p:cNvSpPr/>
          <p:nvPr/>
        </p:nvSpPr>
        <p:spPr>
          <a:xfrm>
            <a:off x="685800" y="1663700"/>
            <a:ext cx="4691049" cy="1308100"/>
          </a:xfrm>
          <a:prstGeom prst="roundRect">
            <a:avLst>
              <a:gd name="adj" fmla="val 25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62" name="Shape 162"/>
          <p:cNvSpPr/>
          <p:nvPr/>
        </p:nvSpPr>
        <p:spPr>
          <a:xfrm>
            <a:off x="685800" y="1663700"/>
            <a:ext cx="50800" cy="13081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63" name="Text 163"/>
          <p:cNvSpPr/>
          <p:nvPr/>
        </p:nvSpPr>
        <p:spPr>
          <a:xfrm>
            <a:off x="854544" y="1739900"/>
            <a:ext cx="4656262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4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</a:p>
          <a:p>
            <a:pPr marL="0" indent="0" algn="l">
              <a:lnSpc>
                <a:spcPct val="128000"/>
              </a:lnSpc>
              <a:spcBef>
                <a:spcPts val="1000"/>
              </a:spcBef>
              <a:buNone/>
            </a:pPr>
            <a:r>
              <a:rPr lang="en-US" sz="14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grammar-first study platform: every grammar point and word is tagged by JLPT level and drilled through a spaced-repetition review queue.</a:t>
            </a:r>
          </a:p>
        </p:txBody>
      </p:sp>
      <p:sp>
        <p:nvSpPr>
          <p:cNvPr id="164" name="Shape 164"/>
          <p:cNvSpPr/>
          <p:nvPr/>
        </p:nvSpPr>
        <p:spPr>
          <a:xfrm>
            <a:off x="685800" y="3098800"/>
            <a:ext cx="4691049" cy="1308100"/>
          </a:xfrm>
          <a:prstGeom prst="roundRect">
            <a:avLst>
              <a:gd name="adj" fmla="val 2500"/>
            </a:avLst>
          </a:prstGeom>
          <a:solidFill>
            <a:srgbClr val="FAF6E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65" name="Shape 165"/>
          <p:cNvSpPr/>
          <p:nvPr/>
        </p:nvSpPr>
        <p:spPr>
          <a:xfrm>
            <a:off x="685800" y="3098800"/>
            <a:ext cx="50800" cy="13081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66" name="Text 166"/>
          <p:cNvSpPr/>
          <p:nvPr/>
        </p:nvSpPr>
        <p:spPr>
          <a:xfrm>
            <a:off x="836930" y="3165475"/>
            <a:ext cx="4475149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4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ADOPTED</a:t>
            </a:r>
          </a:p>
          <a:p>
            <a:pPr marL="0" indent="0" algn="l">
              <a:lnSpc>
                <a:spcPct val="128000"/>
              </a:lnSpc>
              <a:spcBef>
                <a:spcPts val="1000"/>
              </a:spcBef>
              <a:buNone/>
            </a:pPr>
            <a:r>
              <a:rPr lang="en-US" sz="14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JLPT-level tagging on every item and per-item progress — the shape of our language_module and flashcard_module (folders → sets → cards → progress).</a:t>
            </a:r>
          </a:p>
        </p:txBody>
      </p:sp>
      <p:sp>
        <p:nvSpPr>
          <p:cNvPr id="167" name="Shape 167"/>
          <p:cNvSpPr/>
          <p:nvPr/>
        </p:nvSpPr>
        <p:spPr>
          <a:xfrm>
            <a:off x="685800" y="4533900"/>
            <a:ext cx="4691049" cy="13081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DDCD"/>
            </a:solidFill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68" name="Shape 168"/>
          <p:cNvSpPr/>
          <p:nvPr/>
        </p:nvSpPr>
        <p:spPr>
          <a:xfrm>
            <a:off x="685800" y="4533900"/>
            <a:ext cx="50800" cy="1308100"/>
          </a:xfrm>
          <a:prstGeom prst="rect">
            <a:avLst/>
          </a:prstGeom>
          <a:solidFill>
            <a:srgbClr val="7C7168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69" name="Text 169"/>
          <p:cNvSpPr/>
          <p:nvPr/>
        </p:nvSpPr>
        <p:spPr>
          <a:xfrm>
            <a:off x="854544" y="4573684"/>
            <a:ext cx="4362063" cy="107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4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GAPS WE CLOSE</a:t>
            </a:r>
          </a:p>
          <a:p>
            <a:pPr marL="0" indent="0" algn="l">
              <a:lnSpc>
                <a:spcPct val="128000"/>
              </a:lnSpc>
              <a:spcBef>
                <a:spcPts val="1000"/>
              </a:spcBef>
              <a:buNone/>
            </a:pPr>
            <a:r>
              <a:rPr lang="en-US" sz="14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English-only UI, grammar-centred (little listening, speaking or writing), no live teachers and no full three-section JLPT simulation.</a:t>
            </a:r>
          </a:p>
        </p:txBody>
      </p:sp>
      <p:sp>
        <p:nvSpPr>
          <p:cNvPr id="171" name="Text 171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172" name="Text 172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EF9B1A-C86A-10D1-AB0E-9989535215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350"/>
          <a:stretch>
            <a:fillRect/>
          </a:stretch>
        </p:blipFill>
        <p:spPr>
          <a:xfrm>
            <a:off x="5510806" y="1840009"/>
            <a:ext cx="6470693" cy="37113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 · ACTORS &amp; USE CASES  —  ACTORS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Actors 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2533574" cy="2651760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9667" y="2176272"/>
            <a:ext cx="1005840" cy="1005840"/>
          </a:xfrm>
          <a:prstGeom prst="ellipse">
            <a:avLst/>
          </a:prstGeom>
          <a:solidFill>
            <a:srgbClr val="AE2826"/>
          </a:solidFill>
          <a:ln/>
        </p:spPr>
      </p:sp>
      <p:sp>
        <p:nvSpPr>
          <p:cNvPr id="7" name="Text 5"/>
          <p:cNvSpPr/>
          <p:nvPr/>
        </p:nvSpPr>
        <p:spPr>
          <a:xfrm>
            <a:off x="1449667" y="2176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25925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Guest
</a:t>
            </a:r>
            <a:r>
              <a:rPr lang="en-US" sz="110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Browses, registers, signs in.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47974" y="1920240"/>
            <a:ext cx="2533574" cy="2651760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11841" y="2176272"/>
            <a:ext cx="1005840" cy="1005840"/>
          </a:xfrm>
          <a:prstGeom prst="ellipse">
            <a:avLst/>
          </a:prstGeom>
          <a:solidFill>
            <a:srgbClr val="AE2826"/>
          </a:solidFill>
          <a:ln/>
        </p:spPr>
      </p:sp>
      <p:sp>
        <p:nvSpPr>
          <p:cNvPr id="11" name="Text 9"/>
          <p:cNvSpPr/>
          <p:nvPr/>
        </p:nvSpPr>
        <p:spPr>
          <a:xfrm>
            <a:off x="4211841" y="2176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85134" y="3291840"/>
            <a:ext cx="225925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
</a:t>
            </a:r>
            <a:r>
              <a:rPr lang="en-US" sz="110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Learns, practises, takes exams.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0148" y="1920240"/>
            <a:ext cx="2533574" cy="2651760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4015" y="2176272"/>
            <a:ext cx="1005840" cy="1005840"/>
          </a:xfrm>
          <a:prstGeom prst="ellipse">
            <a:avLst/>
          </a:prstGeom>
          <a:solidFill>
            <a:srgbClr val="AE2826"/>
          </a:solidFill>
          <a:ln/>
        </p:spPr>
      </p:sp>
      <p:sp>
        <p:nvSpPr>
          <p:cNvPr id="15" name="Text 13"/>
          <p:cNvSpPr/>
          <p:nvPr/>
        </p:nvSpPr>
        <p:spPr>
          <a:xfrm>
            <a:off x="6974015" y="2176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🧑‍🏫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47308" y="3291840"/>
            <a:ext cx="225925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
</a:t>
            </a:r>
            <a:r>
              <a:rPr lang="en-US" sz="110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Authors content, grades exams.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72321" y="1920240"/>
            <a:ext cx="2533574" cy="2651760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36188" y="2176272"/>
            <a:ext cx="1005840" cy="1005840"/>
          </a:xfrm>
          <a:prstGeom prst="ellipse">
            <a:avLst/>
          </a:prstGeom>
          <a:solidFill>
            <a:srgbClr val="AE2826"/>
          </a:solidFill>
          <a:ln/>
        </p:spPr>
      </p:sp>
      <p:sp>
        <p:nvSpPr>
          <p:cNvPr id="19" name="Text 17"/>
          <p:cNvSpPr/>
          <p:nvPr/>
        </p:nvSpPr>
        <p:spPr>
          <a:xfrm>
            <a:off x="9736188" y="2176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109481" y="3291840"/>
            <a:ext cx="225925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
</a:t>
            </a:r>
            <a:r>
              <a:rPr lang="en-US" sz="110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users, content &amp; revenue.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377440" y="48920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48920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· AI Service (FPT)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4892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4892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· Payment Gateway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8920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48920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· SMTP Email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 · ACTORS &amp; USE CASES  —  AUTHENTICATION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·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 · Guest / User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93390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email + 6-digit OTP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password or Google OAuth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Forgot / reset password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OTP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password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re-authentication required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routing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login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6AD886-7C33-3299-D94A-FFCA7BE90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" t="3433" r="4079" b="4123"/>
          <a:stretch>
            <a:fillRect/>
          </a:stretch>
        </p:blipFill>
        <p:spPr bwMode="auto">
          <a:xfrm>
            <a:off x="4378655" y="1326476"/>
            <a:ext cx="7272930" cy="4818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 · ACTORS &amp; USE CASES  —  STUDENT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·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 · Student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941859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courses, lessons, vocab, kanji, grammar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flashcards, reading, writing, kanji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quizzes, mock exams, leaderboard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AI roadmap &amp; AI Sensei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profile &amp; subscription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54ED22-D58F-8FE2-068E-2CB47C31D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720" y="221742"/>
            <a:ext cx="5731510" cy="62522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 · ACTORS &amp; USE CASES  —  TEACHER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·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 · Teacher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teach — AI screens the application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 content with AI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reading passages &amp; listening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bank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private bank, manual or AI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Exams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create exams, review attempts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Earnings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monthly share of content usage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FE9680-7D5E-BECB-38D6-ACD5AF699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209" y="82495"/>
            <a:ext cx="4147141" cy="66292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III · ACTORS &amp; USE CASES  —  ADMIN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·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 · Admin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332581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management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roles, accounts, audit logs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courses, corpus, approvals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question bank, mock exams 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Monetization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subscriptions, payments, payouts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system health, teacher applications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C522F2-4DC5-75B6-91D8-C51966F70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942" y="1066867"/>
            <a:ext cx="3836504" cy="44023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1820E7-A359-ED2B-D4B7-90D6DAA8D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145" y="1719072"/>
            <a:ext cx="3914119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base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74" name="Text 174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OVERVIEW</a:t>
            </a:r>
          </a:p>
        </p:txBody>
      </p:sp>
      <p:sp>
        <p:nvSpPr>
          <p:cNvPr id="175" name="Text 175"/>
          <p:cNvSpPr/>
          <p:nvPr/>
        </p:nvSpPr>
        <p:spPr>
          <a:xfrm>
            <a:off x="685800" y="711200"/>
            <a:ext cx="10820400" cy="63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database, </a:t>
            </a: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domain schemas</a:t>
            </a:r>
          </a:p>
        </p:txBody>
      </p:sp>
      <p:sp>
        <p:nvSpPr>
          <p:cNvPr id="176" name="Text 176"/>
          <p:cNvSpPr/>
          <p:nvPr/>
        </p:nvSpPr>
        <p:spPr>
          <a:xfrm>
            <a:off x="685800" y="1244600"/>
            <a:ext cx="101600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feature area owns its own schema. </a:t>
            </a:r>
          </a:p>
        </p:txBody>
      </p:sp>
      <p:sp>
        <p:nvSpPr>
          <p:cNvPr id="181" name="Text 181"/>
          <p:cNvSpPr/>
          <p:nvPr/>
        </p:nvSpPr>
        <p:spPr>
          <a:xfrm>
            <a:off x="927100" y="3619500"/>
            <a:ext cx="1028700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600" kern="0" dirty="0">
              <a:solidFill>
                <a:srgbClr val="3A352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188" name="Text 188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189" name="Text 189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D9E7B7-8EA3-A8D3-5B9D-9586FC5A25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6"/>
          <a:stretch>
            <a:fillRect/>
          </a:stretch>
        </p:blipFill>
        <p:spPr bwMode="auto">
          <a:xfrm>
            <a:off x="1870571" y="1536699"/>
            <a:ext cx="9033619" cy="494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users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91" name="Text 191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1 / 11</a:t>
            </a:r>
          </a:p>
        </p:txBody>
      </p:sp>
      <p:sp>
        <p:nvSpPr>
          <p:cNvPr id="192" name="Text 192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6 tables</a:t>
            </a:r>
          </a:p>
        </p:txBody>
      </p:sp>
      <p:sp>
        <p:nvSpPr>
          <p:cNvPr id="193" name="Text 193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profiles — users, student/teacher profiles, teacher applications, audit log.</a:t>
            </a:r>
          </a:p>
        </p:txBody>
      </p:sp>
      <p:sp>
        <p:nvSpPr>
          <p:cNvPr id="195" name="Text 195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196" name="Text 196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F7466D-A94D-56EA-F343-7E7AA5952A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8" b="4727"/>
          <a:stretch>
            <a:fillRect/>
          </a:stretch>
        </p:blipFill>
        <p:spPr bwMode="auto">
          <a:xfrm>
            <a:off x="2850173" y="1652007"/>
            <a:ext cx="6935129" cy="47010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course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198" name="Text 198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2 / 11</a:t>
            </a:r>
          </a:p>
        </p:txBody>
      </p:sp>
      <p:sp>
        <p:nvSpPr>
          <p:cNvPr id="199" name="Text 199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11 tables</a:t>
            </a:r>
          </a:p>
        </p:txBody>
      </p:sp>
      <p:sp>
        <p:nvSpPr>
          <p:cNvPr id="200" name="Text 200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Courses → units → lessons, enrollments, lesson progress, course reviews.</a:t>
            </a:r>
          </a:p>
        </p:txBody>
      </p:sp>
      <p:sp>
        <p:nvSpPr>
          <p:cNvPr id="202" name="Text 202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03" name="Text 203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0BDB11-1079-0215-0F26-FDE7CCE4B2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246" y="1612900"/>
            <a:ext cx="10043410" cy="4806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language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05" name="Text 205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3 / 11</a:t>
            </a:r>
          </a:p>
        </p:txBody>
      </p:sp>
      <p:sp>
        <p:nvSpPr>
          <p:cNvPr id="206" name="Text 206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17 tables</a:t>
            </a:r>
          </a:p>
        </p:txBody>
      </p:sp>
      <p:sp>
        <p:nvSpPr>
          <p:cNvPr id="207" name="Text 207"/>
          <p:cNvSpPr/>
          <p:nvPr/>
        </p:nvSpPr>
        <p:spPr>
          <a:xfrm>
            <a:off x="685800" y="1320800"/>
            <a:ext cx="4220155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corpus — vocabulary, kanji, grammar points &amp; patterns, study-list posts.</a:t>
            </a:r>
          </a:p>
        </p:txBody>
      </p:sp>
      <p:sp>
        <p:nvSpPr>
          <p:cNvPr id="209" name="Text 209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10" name="Text 210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488C89-F5BD-6A6D-8C17-CF883BFDEA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4" b="3013"/>
          <a:stretch>
            <a:fillRect/>
          </a:stretch>
        </p:blipFill>
        <p:spPr bwMode="auto">
          <a:xfrm>
            <a:off x="7179479" y="211045"/>
            <a:ext cx="4326721" cy="62659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practice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12" name="Text 212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4 / 11</a:t>
            </a:r>
          </a:p>
        </p:txBody>
      </p:sp>
      <p:sp>
        <p:nvSpPr>
          <p:cNvPr id="213" name="Text 213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12 tables</a:t>
            </a:r>
          </a:p>
        </p:txBody>
      </p:sp>
      <p:sp>
        <p:nvSpPr>
          <p:cNvPr id="214" name="Text 214"/>
          <p:cNvSpPr/>
          <p:nvPr/>
        </p:nvSpPr>
        <p:spPr>
          <a:xfrm>
            <a:off x="685800" y="1257203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skills — reading sets, listening dialogues, writing submissions, pronunciation.</a:t>
            </a:r>
          </a:p>
        </p:txBody>
      </p:sp>
      <p:sp>
        <p:nvSpPr>
          <p:cNvPr id="216" name="Text 216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17" name="Text 217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FAA35C-33B8-A1D0-1DDD-C7E12B6258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043" y="1564322"/>
            <a:ext cx="7462284" cy="48555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flashcard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19" name="Text 219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5 / 11</a:t>
            </a:r>
          </a:p>
        </p:txBody>
      </p:sp>
      <p:sp>
        <p:nvSpPr>
          <p:cNvPr id="220" name="Text 220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flashcard_module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6 tables</a:t>
            </a:r>
          </a:p>
        </p:txBody>
      </p:sp>
      <p:sp>
        <p:nvSpPr>
          <p:cNvPr id="221" name="Text 221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Folders ↔ sets ↔ cards, per-card progress, one AI-generated test per set.</a:t>
            </a:r>
          </a:p>
        </p:txBody>
      </p:sp>
      <p:sp>
        <p:nvSpPr>
          <p:cNvPr id="223" name="Text 223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24" name="Text 224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8A388E-E5A0-D130-449D-F0948EA694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817" y="1651000"/>
            <a:ext cx="8849897" cy="46936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exam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26" name="Text 226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6 / 11</a:t>
            </a:r>
          </a:p>
        </p:txBody>
      </p:sp>
      <p:sp>
        <p:nvSpPr>
          <p:cNvPr id="227" name="Text 227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9 tables</a:t>
            </a:r>
          </a:p>
        </p:txBody>
      </p:sp>
      <p:sp>
        <p:nvSpPr>
          <p:cNvPr id="228" name="Text 228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quizzes, proctoring lockouts, admin &amp; teacher question banks.</a:t>
            </a:r>
          </a:p>
        </p:txBody>
      </p:sp>
      <p:sp>
        <p:nvSpPr>
          <p:cNvPr id="230" name="Text 230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31" name="Text 231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4E6A8B-68A7-898E-AC4B-E2E082F5B7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6" b="3709"/>
          <a:stretch>
            <a:fillRect/>
          </a:stretch>
        </p:blipFill>
        <p:spPr>
          <a:xfrm>
            <a:off x="2869373" y="1612900"/>
            <a:ext cx="6628182" cy="48502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jlpt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33" name="Text 233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7 / 11</a:t>
            </a:r>
          </a:p>
        </p:txBody>
      </p:sp>
      <p:sp>
        <p:nvSpPr>
          <p:cNvPr id="234" name="Text 234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jlpt_module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8 tables</a:t>
            </a:r>
          </a:p>
        </p:txBody>
      </p:sp>
      <p:sp>
        <p:nvSpPr>
          <p:cNvPr id="235" name="Text 235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 exams → sections → mondai groups → questions, attempts, reusable bank.</a:t>
            </a:r>
          </a:p>
        </p:txBody>
      </p:sp>
      <p:sp>
        <p:nvSpPr>
          <p:cNvPr id="237" name="Text 237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38" name="Text 238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7668B-F37E-8739-E4B5-BA92ADD1AE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64" y="1651000"/>
            <a:ext cx="10245272" cy="46288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dictionary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40" name="Text 240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8 / 11</a:t>
            </a:r>
          </a:p>
        </p:txBody>
      </p:sp>
      <p:sp>
        <p:nvSpPr>
          <p:cNvPr id="241" name="Text 241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dictionary_module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5 tables</a:t>
            </a:r>
          </a:p>
        </p:txBody>
      </p:sp>
      <p:sp>
        <p:nvSpPr>
          <p:cNvPr id="242" name="Text 242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JP–VI dictionary — ~17k entries, 28k senses, 10k kanji, 10k examples.</a:t>
            </a:r>
          </a:p>
        </p:txBody>
      </p:sp>
      <p:sp>
        <p:nvSpPr>
          <p:cNvPr id="244" name="Text 244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45" name="Text 245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3FA52C-E742-6AB4-848B-F040C38747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82" y="1828005"/>
            <a:ext cx="10814229" cy="41275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billing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47" name="Text 247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9 / 11</a:t>
            </a:r>
          </a:p>
        </p:txBody>
      </p:sp>
      <p:sp>
        <p:nvSpPr>
          <p:cNvPr id="248" name="Text 248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11 tables</a:t>
            </a:r>
          </a:p>
        </p:txBody>
      </p:sp>
      <p:sp>
        <p:nvSpPr>
          <p:cNvPr id="249" name="Text 249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Subscriptions, SePay orders &amp; transactions, feature quotas, teacher payouts.</a:t>
            </a:r>
          </a:p>
        </p:txBody>
      </p:sp>
      <p:sp>
        <p:nvSpPr>
          <p:cNvPr id="251" name="Text 251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52" name="Text 252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6D0EB2-FA97-5710-6D43-470B2A4DEB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676" y="1651000"/>
            <a:ext cx="7568778" cy="47688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ai_modu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/>
          <p:nvPr/>
        </p:nvSpPr>
        <p:spPr>
          <a:xfrm>
            <a:off x="0" y="0"/>
            <a:ext cx="146050" cy="6858000"/>
          </a:xfrm>
          <a:prstGeom prst="rect">
            <a:avLst/>
          </a:prstGeom>
          <a:solidFill>
            <a:srgbClr val="AE2826"/>
          </a:solidFill>
          <a:ln>
            <a:noFill/>
          </a:ln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254" name="Text 254"/>
          <p:cNvSpPr/>
          <p:nvPr/>
        </p:nvSpPr>
        <p:spPr>
          <a:xfrm>
            <a:off x="685800" y="381000"/>
            <a:ext cx="10820400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IV · DATABASE DESIGN  —  10 / 11</a:t>
            </a:r>
          </a:p>
        </p:txBody>
      </p:sp>
      <p:sp>
        <p:nvSpPr>
          <p:cNvPr id="255" name="Text 255"/>
          <p:cNvSpPr/>
          <p:nvPr/>
        </p:nvSpPr>
        <p:spPr>
          <a:xfrm>
            <a:off x="685800" y="711200"/>
            <a:ext cx="108204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ai_module</a:t>
            </a:r>
            <a:r>
              <a:rPr lang="en-US" sz="1800" b="1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9 tables</a:t>
            </a:r>
          </a:p>
        </p:txBody>
      </p:sp>
      <p:sp>
        <p:nvSpPr>
          <p:cNvPr id="256" name="Text 256"/>
          <p:cNvSpPr/>
          <p:nvPr/>
        </p:nvSpPr>
        <p:spPr>
          <a:xfrm>
            <a:off x="685800" y="1320800"/>
            <a:ext cx="10820400" cy="29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kern="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Sensei chat, learning paths &amp; steps, student dashboards, notifications.</a:t>
            </a:r>
          </a:p>
        </p:txBody>
      </p:sp>
      <p:sp>
        <p:nvSpPr>
          <p:cNvPr id="258" name="Text 258"/>
          <p:cNvSpPr/>
          <p:nvPr/>
        </p:nvSpPr>
        <p:spPr>
          <a:xfrm>
            <a:off x="685800" y="6419850"/>
            <a:ext cx="7315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kern="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</a:p>
        </p:txBody>
      </p:sp>
      <p:sp>
        <p:nvSpPr>
          <p:cNvPr id="259" name="Text 259"/>
          <p:cNvSpPr/>
          <p:nvPr/>
        </p:nvSpPr>
        <p:spPr>
          <a:xfrm>
            <a:off x="8763000" y="6419850"/>
            <a:ext cx="2743200" cy="29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b="1" kern="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r>
              <a:rPr lang="en-US" sz="950" kern="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E4F709-4DEB-7A87-DEE5-D943670935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022" y="1651000"/>
            <a:ext cx="7617956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 · CODE PACKAGE  —  COMPONENT DIAGRAM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&amp;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</a:t>
            </a: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structure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1DBD25-270D-54B0-40E7-AD0F154BD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3" t="3616" r="15445" b="19151"/>
          <a:stretch>
            <a:fillRect/>
          </a:stretch>
        </p:blipFill>
        <p:spPr bwMode="auto">
          <a:xfrm>
            <a:off x="1564022" y="1271658"/>
            <a:ext cx="9063956" cy="51474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 —  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it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action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Software Project Development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27</a:t>
            </a:r>
            <a:endParaRPr lang="en-US" sz="9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26FD548-C8BB-51AB-4FF3-D586833D44C1}"/>
              </a:ext>
            </a:extLst>
          </p:cNvPr>
          <p:cNvSpPr/>
          <p:nvPr/>
        </p:nvSpPr>
        <p:spPr>
          <a:xfrm>
            <a:off x="795867" y="1752600"/>
            <a:ext cx="4992285" cy="4191000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F9EBB57-A4B7-14D4-5DC2-9B2697F634B8}"/>
              </a:ext>
            </a:extLst>
          </p:cNvPr>
          <p:cNvSpPr/>
          <p:nvPr/>
        </p:nvSpPr>
        <p:spPr>
          <a:xfrm>
            <a:off x="6095847" y="1837267"/>
            <a:ext cx="2506286" cy="1862666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A4CB9FA-A99A-C4DC-3167-DA31265B5EC2}"/>
              </a:ext>
            </a:extLst>
          </p:cNvPr>
          <p:cNvSpPr/>
          <p:nvPr/>
        </p:nvSpPr>
        <p:spPr>
          <a:xfrm>
            <a:off x="8881152" y="1837267"/>
            <a:ext cx="2506286" cy="1862666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18F67B2-3D48-D749-3519-52F65CCA1111}"/>
              </a:ext>
            </a:extLst>
          </p:cNvPr>
          <p:cNvSpPr/>
          <p:nvPr/>
        </p:nvSpPr>
        <p:spPr>
          <a:xfrm>
            <a:off x="6081509" y="3996267"/>
            <a:ext cx="2506286" cy="1862666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B359A7A-B43A-612B-3358-5A5E949CE383}"/>
              </a:ext>
            </a:extLst>
          </p:cNvPr>
          <p:cNvSpPr/>
          <p:nvPr/>
        </p:nvSpPr>
        <p:spPr>
          <a:xfrm>
            <a:off x="8881152" y="3996267"/>
            <a:ext cx="2506286" cy="1862666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AE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234440"/>
            <a:ext cx="1234440" cy="1234440"/>
          </a:xfrm>
          <a:prstGeom prst="ellipse">
            <a:avLst/>
          </a:prstGeom>
          <a:ln w="381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0" y="123444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絆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39319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BED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— connecting learners to Japanese, with AI.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ED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Answers      ·      Kizuna Nihongo Team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D5E29A1-F019-4EC8-A0BD-FF662FDF5D8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99870ce-de88-4507-a1b4-213bcf708beb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FEB04A1-4B15-418E-B8A1-8929734EB37C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f6811da2-3dbc-41cb-81bf-c2c5d795842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1375</Words>
  <Application>Microsoft Office PowerPoint</Application>
  <PresentationFormat>Widescreen</PresentationFormat>
  <Paragraphs>197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Kizuna Nihongo — SRS &amp; System Design</dc:title>
  <dc:subject>PptxGenJS Presentation</dc:subject>
  <dc:creator>Kizuna Nihongo Team</dc:creator>
  <cp:lastModifiedBy>Hanh Quyen Le</cp:lastModifiedBy>
  <cp:revision>28</cp:revision>
  <dcterms:created xsi:type="dcterms:W3CDTF">2026-07-21T05:11:08Z</dcterms:created>
  <dcterms:modified xsi:type="dcterms:W3CDTF">2026-07-30T15:11:56Z</dcterms:modified>
</cp:coreProperties>
</file>