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37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786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0" y="48920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絆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0074" y="944125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REQUIREMENT  /  SYSTEM ANALYSIS &amp;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442380"/>
            <a:ext cx="6583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66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
</a:t>
            </a:r>
            <a:r>
              <a:rPr lang="en-US" sz="66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Nihongo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665064" y="3454060"/>
            <a:ext cx="3840947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AI-powered, personalized platform for learning Japanese — JLPT N5 to N1.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4892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48920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Team  ·  React · Express · Supabase · FPT AI Factory  ·  2026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8AE158-97CF-D61E-38CC-66841FA34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974" y="1635888"/>
            <a:ext cx="7347818" cy="3486445"/>
          </a:xfrm>
          <a:prstGeom prst="rect">
            <a:avLst/>
          </a:prstGeom>
        </p:spPr>
      </p:pic>
      <p:sp>
        <p:nvSpPr>
          <p:cNvPr id="19" name="Shape 8">
            <a:extLst>
              <a:ext uri="{FF2B5EF4-FFF2-40B4-BE49-F238E27FC236}">
                <a16:creationId xmlns:a16="http://schemas.microsoft.com/office/drawing/2014/main" id="{13FE40B0-6F13-C0FA-63AE-88EC9C78A946}"/>
              </a:ext>
            </a:extLst>
          </p:cNvPr>
          <p:cNvSpPr/>
          <p:nvPr/>
        </p:nvSpPr>
        <p:spPr>
          <a:xfrm>
            <a:off x="731520" y="4868404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6CD1D62E-3538-72B7-8973-88B643758643}"/>
              </a:ext>
            </a:extLst>
          </p:cNvPr>
          <p:cNvSpPr/>
          <p:nvPr/>
        </p:nvSpPr>
        <p:spPr>
          <a:xfrm>
            <a:off x="671494" y="485661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AI Sensei</a:t>
            </a:r>
            <a:endParaRPr lang="en-US" sz="11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A92AFE79-F1FF-31CB-370B-DA3139BD7AC8}"/>
              </a:ext>
            </a:extLst>
          </p:cNvPr>
          <p:cNvSpPr/>
          <p:nvPr/>
        </p:nvSpPr>
        <p:spPr>
          <a:xfrm>
            <a:off x="731520" y="4413359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4DABC585-350B-3D28-FC08-510047109C39}"/>
              </a:ext>
            </a:extLst>
          </p:cNvPr>
          <p:cNvSpPr/>
          <p:nvPr/>
        </p:nvSpPr>
        <p:spPr>
          <a:xfrm>
            <a:off x="731520" y="43958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Roadmap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we’ll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250028" cy="1805940"/>
          </a:xfrm>
          <a:prstGeom prst="roundRect">
            <a:avLst>
              <a:gd name="adj" fmla="val 5063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1371600" cy="144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377440" y="2148840"/>
            <a:ext cx="3329788" cy="144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
</a:t>
            </a:r>
            <a:r>
              <a:rPr lang="en-US" sz="12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Problem, proposed solution &amp; technology stack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55868" y="1965960"/>
            <a:ext cx="5250028" cy="1805940"/>
          </a:xfrm>
          <a:prstGeom prst="roundRect">
            <a:avLst>
              <a:gd name="adj" fmla="val 5063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4468" y="2148840"/>
            <a:ext cx="1371600" cy="144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947508" y="2148840"/>
            <a:ext cx="3329788" cy="144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 Analysis
</a:t>
            </a:r>
            <a:r>
              <a:rPr lang="en-US" sz="12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Actors, use cases, functional &amp; non-functional requirements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85800" y="4091940"/>
            <a:ext cx="5250028" cy="1805940"/>
          </a:xfrm>
          <a:prstGeom prst="roundRect">
            <a:avLst>
              <a:gd name="adj" fmla="val 5063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274820"/>
            <a:ext cx="1371600" cy="144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2377440" y="4274820"/>
            <a:ext cx="3329788" cy="144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Design
</a:t>
            </a:r>
            <a:r>
              <a:rPr lang="en-US" sz="12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Architecture, database, security &amp; authorization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55868" y="4091940"/>
            <a:ext cx="5250028" cy="1805940"/>
          </a:xfrm>
          <a:prstGeom prst="roundRect">
            <a:avLst>
              <a:gd name="adj" fmla="val 5063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4468" y="4274820"/>
            <a:ext cx="1371600" cy="144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7947508" y="4274820"/>
            <a:ext cx="3329788" cy="1440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
</a:t>
            </a:r>
            <a:r>
              <a:rPr lang="en-US" sz="12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Landing page &amp; key product screens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704773" y="145592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INTRODUCTION  — 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4773" y="178511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path for everyone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doesn’t 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04773" y="2553208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Japanese study forces every learner down the same track — and leaves them without timely feedback.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04773" y="3312160"/>
            <a:ext cx="2533574" cy="14511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941" y="3429000"/>
            <a:ext cx="213123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roadmap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follows a single fixed curriculum, ignoring their real level, pace and goal.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66947" y="3312160"/>
            <a:ext cx="2533574" cy="14511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8114" y="3429000"/>
            <a:ext cx="213123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instant feedback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Writing, speaking and kanji practice go uncorrected — mistakes stick.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9121" y="3312160"/>
            <a:ext cx="2533574" cy="14511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0287" y="3429000"/>
            <a:ext cx="213123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Tutors don’t scale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1-on-1 guidance is costly, hard to book and unavailable on demand.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91294" y="3312160"/>
            <a:ext cx="2533574" cy="14511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92460" y="3429000"/>
            <a:ext cx="2131238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Passive content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textbooks can’t adapt to the exact points a learner struggles with.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800100" y="1472523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INTRODUCTION  — 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0100" y="1801707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personalized, </a:t>
            </a:r>
            <a:r>
              <a:rPr lang="en-US" sz="31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</a:t>
            </a:r>
            <a:r>
              <a:rPr lang="en-US" sz="31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platform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800100" y="2569803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turns a fixed curriculum into an adaptive experience — with AI woven through learning, authoring and assessment.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00100" y="3328755"/>
            <a:ext cx="2533574" cy="1476587"/>
          </a:xfrm>
          <a:prstGeom prst="roundRect">
            <a:avLst>
              <a:gd name="adj" fmla="val 3609"/>
            </a:avLst>
          </a:prstGeom>
          <a:solidFill>
            <a:srgbClr val="AE2826"/>
          </a:solidFill>
          <a:ln w="12700">
            <a:solidFill>
              <a:srgbClr val="AE2826"/>
            </a:solidFill>
            <a:prstDash val="solid"/>
          </a:ln>
          <a:effectLst>
            <a:outerShdw blurRad="101600" dist="38100" dir="5400000" algn="bl" rotWithShape="0">
              <a:srgbClr val="8C0B12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1268" y="3493347"/>
            <a:ext cx="2131238" cy="13329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
</a:t>
            </a: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roadmap
</a:t>
            </a:r>
            <a:r>
              <a:rPr lang="en-US" sz="1100" dirty="0">
                <a:solidFill>
                  <a:srgbClr val="F6E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builds a step-by-step study plan from the learner’s current level to their target JLPT.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2274" y="3328755"/>
            <a:ext cx="2533574" cy="14765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3442" y="3493347"/>
            <a:ext cx="2131238" cy="13329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Sensei tutor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agentic assistant that answers, reads the learner’s own data, and acts only with confirmation.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4448" y="3328755"/>
            <a:ext cx="2533574" cy="14765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5616" y="3493347"/>
            <a:ext cx="2131238" cy="13329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authoring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Teachers &amp; admins generate readings, questions and audio in minutes, then review.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86621" y="3328755"/>
            <a:ext cx="2533574" cy="1476587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87789" y="3493347"/>
            <a:ext cx="2131238" cy="13329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Proctored assessment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Exams run with webcam face-detection and anti-cheat, plus auto &amp; AI-assisted grading.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INTRODUCTION  —  PRODUCT &amp; 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built &amp;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· JLPT N5 → N1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286000"/>
            <a:ext cx="4394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</a:t>
            </a:r>
            <a:r>
              <a:rPr lang="en-US" sz="12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courses, lessons, vocabulary, kanji, grammar &amp; a JP-VI dictionary</a:t>
            </a:r>
            <a:endParaRPr lang="en-US" sz="120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</a:t>
            </a:r>
            <a:r>
              <a:rPr lang="en-US" sz="12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flashcards, reading with furigana, writing &amp; kanji handwriting</a:t>
            </a:r>
            <a:endParaRPr lang="en-US" sz="120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 </a:t>
            </a:r>
            <a:r>
              <a:rPr lang="en-US" sz="12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quizzes, proctored mock exams, placement test &amp; leaderboards</a:t>
            </a:r>
            <a:endParaRPr lang="en-US" sz="120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 </a:t>
            </a:r>
            <a:r>
              <a:rPr lang="en-US" sz="12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AI learning roadmap &amp; AI Sensei chat</a:t>
            </a:r>
            <a:endParaRPr lang="en-US" sz="120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 </a:t>
            </a:r>
            <a:r>
              <a:rPr lang="en-US" sz="12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teachers &amp; admins generate content with AI (readings, questions, audio)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40680" y="19659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40680" y="2331720"/>
            <a:ext cx="2916936" cy="1008888"/>
          </a:xfrm>
          <a:prstGeom prst="roundRect">
            <a:avLst>
              <a:gd name="adj" fmla="val 8157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2423160"/>
            <a:ext cx="2551176" cy="82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SPA
</a:t>
            </a: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· Vite · Tailwind CSS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58784" y="2331720"/>
            <a:ext cx="2916936" cy="1008888"/>
          </a:xfrm>
          <a:prstGeom prst="roundRect">
            <a:avLst>
              <a:gd name="adj" fmla="val 8157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41664" y="2423160"/>
            <a:ext cx="2551176" cy="82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
</a:t>
            </a: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· Express REST (Bearer JWT)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0680" y="3541776"/>
            <a:ext cx="2916936" cy="1008888"/>
          </a:xfrm>
          <a:prstGeom prst="roundRect">
            <a:avLst>
              <a:gd name="adj" fmla="val 8157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3633216"/>
            <a:ext cx="2551176" cy="82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SSR Web
</a:t>
            </a: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EJS · Express (landing &amp; auth)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58784" y="3541776"/>
            <a:ext cx="2916936" cy="1008888"/>
          </a:xfrm>
          <a:prstGeom prst="roundRect">
            <a:avLst>
              <a:gd name="adj" fmla="val 8157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41664" y="3633216"/>
            <a:ext cx="2551176" cy="82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· Auth · Storage
</a:t>
            </a: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— PostgreSQL, GoTrue, Storage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40680" y="4751832"/>
            <a:ext cx="2916936" cy="1008888"/>
          </a:xfrm>
          <a:prstGeom prst="roundRect">
            <a:avLst>
              <a:gd name="adj" fmla="val 8157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4843272"/>
            <a:ext cx="2551176" cy="82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Services
</a:t>
            </a: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FPT AI Factory (OpenAI-compatible)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58784" y="4751832"/>
            <a:ext cx="2916936" cy="1008888"/>
          </a:xfrm>
          <a:prstGeom prst="roundRect">
            <a:avLst>
              <a:gd name="adj" fmla="val 8157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41664" y="4843272"/>
            <a:ext cx="2551176" cy="826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Proctoring · Email
</a:t>
            </a: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MediaPipe Vision · SMTP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REQUIREMENT ANALYSIS  —  ACTORS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Actors &amp;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2533574" cy="2651760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9667" y="2176272"/>
            <a:ext cx="1005840" cy="1005840"/>
          </a:xfrm>
          <a:prstGeom prst="ellipse">
            <a:avLst/>
          </a:prstGeom>
          <a:solidFill>
            <a:srgbClr val="AE2826"/>
          </a:solidFill>
          <a:ln/>
        </p:spPr>
      </p:sp>
      <p:sp>
        <p:nvSpPr>
          <p:cNvPr id="7" name="Text 5"/>
          <p:cNvSpPr/>
          <p:nvPr/>
        </p:nvSpPr>
        <p:spPr>
          <a:xfrm>
            <a:off x="1449667" y="2176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225925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Guest
</a:t>
            </a:r>
            <a:r>
              <a:rPr lang="en-US" sz="110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Browses public content, registers &amp; signs in.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47974" y="1920240"/>
            <a:ext cx="2533574" cy="2651760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11841" y="2176272"/>
            <a:ext cx="1005840" cy="1005840"/>
          </a:xfrm>
          <a:prstGeom prst="ellipse">
            <a:avLst/>
          </a:prstGeom>
          <a:solidFill>
            <a:srgbClr val="AE2826"/>
          </a:solidFill>
          <a:ln/>
        </p:spPr>
      </p:sp>
      <p:sp>
        <p:nvSpPr>
          <p:cNvPr id="11" name="Text 9"/>
          <p:cNvSpPr/>
          <p:nvPr/>
        </p:nvSpPr>
        <p:spPr>
          <a:xfrm>
            <a:off x="4211841" y="2176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85134" y="3291840"/>
            <a:ext cx="225925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
</a:t>
            </a:r>
            <a:r>
              <a:rPr lang="en-US" sz="110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Learns, practices, takes exams &amp; uses AI features.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210148" y="1920240"/>
            <a:ext cx="2533574" cy="2651760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74015" y="2176272"/>
            <a:ext cx="1005840" cy="1005840"/>
          </a:xfrm>
          <a:prstGeom prst="ellipse">
            <a:avLst/>
          </a:prstGeom>
          <a:solidFill>
            <a:srgbClr val="AE2826"/>
          </a:solidFill>
          <a:ln/>
        </p:spPr>
      </p:sp>
      <p:sp>
        <p:nvSpPr>
          <p:cNvPr id="15" name="Text 13"/>
          <p:cNvSpPr/>
          <p:nvPr/>
        </p:nvSpPr>
        <p:spPr>
          <a:xfrm>
            <a:off x="6974015" y="2176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🧑‍🏫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47308" y="3291840"/>
            <a:ext cx="225925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
</a:t>
            </a:r>
            <a:r>
              <a:rPr lang="en-US" sz="110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Authors content &amp; question banks, grades exams.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72321" y="1920240"/>
            <a:ext cx="2533574" cy="2651760"/>
          </a:xfrm>
          <a:prstGeom prst="roundRect">
            <a:avLst>
              <a:gd name="adj" fmla="val 360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736188" y="2176272"/>
            <a:ext cx="1005840" cy="1005840"/>
          </a:xfrm>
          <a:prstGeom prst="ellipse">
            <a:avLst/>
          </a:prstGeom>
          <a:solidFill>
            <a:srgbClr val="AE2826"/>
          </a:solidFill>
          <a:ln/>
        </p:spPr>
      </p:sp>
      <p:sp>
        <p:nvSpPr>
          <p:cNvPr id="19" name="Text 17"/>
          <p:cNvSpPr/>
          <p:nvPr/>
        </p:nvSpPr>
        <p:spPr>
          <a:xfrm>
            <a:off x="9736188" y="217627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109481" y="3291840"/>
            <a:ext cx="225925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
</a:t>
            </a:r>
            <a:r>
              <a:rPr lang="en-US" sz="110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users, content, monetization &amp; the system.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377440" y="48920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48920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· AI Service (FPT)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48920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48920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· Payment Gateway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89204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AE28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489204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· SMTP Email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5532120"/>
            <a:ext cx="10820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</a:t>
            </a:r>
            <a:r>
              <a:rPr lang="en-US" sz="13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(student / teacher / admin) are carried in the Supabase Auth JWT </a:t>
            </a:r>
            <a:r>
              <a:rPr lang="en-US" sz="1300" b="1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user_metadata.role</a:t>
            </a:r>
            <a:r>
              <a:rPr lang="en-US" sz="13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drive every route guard.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REQUIREMENT ANALYSIS  —  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·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 · Guest / User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email &amp; 6-digit OTP verification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in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email/password or Google OAuth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Forgot / reset password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OTP (neutral response)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password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re-authentication required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routing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login (BR-05)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6AD886-7C33-3299-D94A-FFCA7BE901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513" y="1636776"/>
            <a:ext cx="6520360" cy="4319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REQUIREMENT ANALYSIS  —  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·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 · Student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941859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enroll in courses, study lessons, vocab, kanji &amp; grammar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flashcards (AI-define / AI test), reading, writing, kanji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quizzes, proctored mock exams, placement test, leaderboard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AI learning roadmap &amp; AI Sensei chat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profile, subscription &amp; upgrade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54ED22-D58F-8FE2-068E-2CB47C31D4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385" y="384048"/>
            <a:ext cx="5731510" cy="62522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REQUIREMENT ANALYSIS  —  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·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 · Teacher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become a teacher — AI screening of the application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 content with AI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reading passages (4-step pipeline) &amp; listening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bank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manual &amp; AI-generated items in a private bank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Exams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create exams &amp; review attempts (AI grading assist)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Earnings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monthly revenue share based on content usage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FE9680-7D5E-BECB-38D6-ACD5AF699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209" y="82495"/>
            <a:ext cx="4147141" cy="66292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REQUIREMENT ANALYSIS  —  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·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8C0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 · Admin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332581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management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roles, accounts &amp; audit logs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course builder, vocab/kanji/grammar &amp; approvals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question bank, mock exams (AI + TTS), placement config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Monetization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subscriptions, payments &amp; teacher revenue pool</a:t>
            </a:r>
            <a:endParaRPr lang="en-US" sz="1250" dirty="0"/>
          </a:p>
          <a:p>
            <a:pPr marL="203200" indent="-203200" algn="l">
              <a:lnSpc>
                <a:spcPct val="103000"/>
              </a:lnSpc>
              <a:buSzPct val="100000"/>
              <a:buChar char="▪"/>
            </a:pPr>
            <a:r>
              <a:rPr lang="en-US" sz="12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Operations </a:t>
            </a:r>
            <a:r>
              <a:rPr lang="en-US" sz="12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system health (App/DB/AI) &amp; teacher-application review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C522F2-4DC5-75B6-91D8-C51966F70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760" y="1362456"/>
            <a:ext cx="3556000" cy="40805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1820E7-A359-ED2B-D4B7-90D6DAA8D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834" y="2031111"/>
            <a:ext cx="3519170" cy="34118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REQUIREMENT ANALYSIS  —  FUNCTIONAL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13055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FR-1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 &amp; Auth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Registration with OTP, login &amp; OAuth, password reset, profile, role-based access control.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8698" y="196596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9866" y="213055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FR-2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Content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courses &amp; lessons, vocabulary/kanji/grammar, dictionary lookup, progress tracking.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51597" y="196596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765" y="213055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FR-3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&amp; Proctoring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Quizzes, mock exams, proctored mode (webcam &amp; face detection), auto + AI grading, leaderboard.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06908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423367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FR-4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Personalization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roadmap, AI Sensei, flashcard AI-define/test, writing &amp; kanji feedback, furigana.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68698" y="406908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9866" y="423367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FR-5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Authoring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Teachers &amp; admins generate reading passages, quiz questions &amp; mock-exam audio with AI, then review.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51597" y="406908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2765" y="423367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FR-6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&amp; Monetization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management, subscriptions &amp; payments, teacher revenue share and system monitoring.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REQUIREMENT ANALYSIS  —  NON-FUNCTIONAL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Non-functional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13055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JWT-based RBAC, hashed OTP, service-role / RLS isolation, private storage with signed URLs.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8698" y="196596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9866" y="213055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Paginated, indexed APIs; AI calls run asynchronously with graceful fallbacks.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51597" y="196596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765" y="213055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Usability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Bilingual UI (VI / JA), furigana support, responsive layout, shared UI component library.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06908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423367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Reliability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Per-plan quota guards and graceful handling when the AI service is unavailable (MSG40).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68698" y="406908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9866" y="423367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schema across 10 domains; stateless REST + JWT enables horizontal scaling.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51597" y="406908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2765" y="423367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 &amp; Compliance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Neutral password-reset responses, content-ownership rules and user audit logging.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REQUIREMENT ANALYSIS  —  BUSINESS RULES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rules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(highlights)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57400"/>
          <a:ext cx="10817352" cy="396849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36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0B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0B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0B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C0B1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BR-04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5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Authorization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5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Teacher applications are auto-approved by AI screening when complete &amp; verifiable; otherwise queued for an administrator.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C0B1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BR-10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5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Structural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5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Exiting full-screen during a proctored attempt is logged as a violation, and the AI Sensei is locked for the attempt.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C0B1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BR-18/19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5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Structural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5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section auto-submits when its timer hits zero; the leaderboard ranks only each student’s first completed attempt.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C0B1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BR-21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5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Authorization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5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Users may edit/publish only content they own; an admin’s access to a teacher’s course is read-only preview.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C0B1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BR-08…25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5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Action-Enabler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5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Roadmap, AI-define, flashcard-test, reading &amp; chat features are quota-limited per plan; upgrading unlocks more.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8C0B1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BR-25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5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Computation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52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Each teacher’s payout is proportional to content usage and finalized monthly by an administrator.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D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SYSTEM DESIGN  —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layered</a:t>
            </a: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10820095" cy="841248"/>
          </a:xfrm>
          <a:prstGeom prst="roundRect">
            <a:avLst>
              <a:gd name="adj" fmla="val 8696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65960"/>
            <a:ext cx="2286000" cy="841248"/>
          </a:xfrm>
          <a:prstGeom prst="roundRect">
            <a:avLst>
              <a:gd name="adj" fmla="val 8696"/>
            </a:avLst>
          </a:prstGeom>
          <a:solidFill>
            <a:srgbClr val="AE282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
</a:t>
            </a:r>
            <a:r>
              <a:rPr lang="en-US" sz="850" kern="0" spc="150" dirty="0">
                <a:solidFill>
                  <a:srgbClr val="F3D9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1965960"/>
            <a:ext cx="812261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SPA (student · teacher · admin)   ·   EJS SSR (landing · auth callback)   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0" y="278892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971800"/>
            <a:ext cx="10820095" cy="841248"/>
          </a:xfrm>
          <a:prstGeom prst="roundRect">
            <a:avLst>
              <a:gd name="adj" fmla="val 8696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971800"/>
            <a:ext cx="2286000" cy="841248"/>
          </a:xfrm>
          <a:prstGeom prst="roundRect">
            <a:avLst>
              <a:gd name="adj" fmla="val 8696"/>
            </a:avLst>
          </a:prstGeom>
          <a:solidFill>
            <a:srgbClr val="AE282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7180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Logic
</a:t>
            </a:r>
            <a:r>
              <a:rPr lang="en-US" sz="850" kern="0" spc="150" dirty="0">
                <a:solidFill>
                  <a:srgbClr val="F3D9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2971800"/>
            <a:ext cx="812261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REST API (routes/api/*)   ·   Route guards (requireAuth · requireRole)   ·   Controllers   ·   Metrics middleware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0" y="379476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977640"/>
            <a:ext cx="10820095" cy="841248"/>
          </a:xfrm>
          <a:prstGeom prst="roundRect">
            <a:avLst>
              <a:gd name="adj" fmla="val 8696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977640"/>
            <a:ext cx="2286000" cy="841248"/>
          </a:xfrm>
          <a:prstGeom prst="roundRect">
            <a:avLst>
              <a:gd name="adj" fmla="val 8696"/>
            </a:avLst>
          </a:prstGeom>
          <a:solidFill>
            <a:srgbClr val="AE282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7764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Auth
</a:t>
            </a:r>
            <a:r>
              <a:rPr lang="en-US" sz="850" kern="0" spc="150" dirty="0">
                <a:solidFill>
                  <a:srgbClr val="F3D9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3977640"/>
            <a:ext cx="812261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(10 module schemas)   ·   GoTrue Auth (JWT · Google OAuth)   ·   Storage (private buckets · signed URLs)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0" y="480060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983480"/>
            <a:ext cx="10820095" cy="841248"/>
          </a:xfrm>
          <a:prstGeom prst="roundRect">
            <a:avLst>
              <a:gd name="adj" fmla="val 8696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983480"/>
            <a:ext cx="2286000" cy="841248"/>
          </a:xfrm>
          <a:prstGeom prst="roundRect">
            <a:avLst>
              <a:gd name="adj" fmla="val 8696"/>
            </a:avLst>
          </a:prstGeom>
          <a:solidFill>
            <a:srgbClr val="14121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983480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
</a:t>
            </a:r>
            <a:r>
              <a:rPr lang="en-US" sz="850" kern="0" spc="150" dirty="0">
                <a:solidFill>
                  <a:srgbClr val="F3D9D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00400" y="4983480"/>
            <a:ext cx="812261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FPT AI Factory (chat · generation · grading)   ·   SMTP (OTP email)   ·   Payment gateway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SYSTEM DESIGN  —  PACKAGE 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 &amp;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</a:t>
            </a: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structure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760720" y="1965960"/>
            <a:ext cx="553212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1DBD25-270D-54B0-40E7-AD0F154BD6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16" b="15379"/>
          <a:stretch>
            <a:fillRect/>
          </a:stretch>
        </p:blipFill>
        <p:spPr bwMode="auto">
          <a:xfrm>
            <a:off x="2049820" y="1264257"/>
            <a:ext cx="8092359" cy="48256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SYSTEM DESIGN  —  DATABASE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—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 schemas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domain-per-schema PostgreSQL design; the public schema exposes compatibility views over the modules.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3968496" cy="845820"/>
          </a:xfrm>
          <a:prstGeom prst="roundRect">
            <a:avLst>
              <a:gd name="adj" fmla="val 864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11680"/>
            <a:ext cx="3968496" cy="384048"/>
          </a:xfrm>
          <a:prstGeom prst="roundRect">
            <a:avLst>
              <a:gd name="adj" fmla="val 19048"/>
            </a:avLst>
          </a:prstGeom>
          <a:solidFill>
            <a:srgbClr val="AE2826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" y="201168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users_module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0392" y="2468880"/>
            <a:ext cx="3639312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· student_profiles · teacher_profiles · roles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55464" y="2011680"/>
            <a:ext cx="3968496" cy="845820"/>
          </a:xfrm>
          <a:prstGeom prst="roundRect">
            <a:avLst>
              <a:gd name="adj" fmla="val 864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55464" y="2011680"/>
            <a:ext cx="3968496" cy="384048"/>
          </a:xfrm>
          <a:prstGeom prst="roundRect">
            <a:avLst>
              <a:gd name="adj" fmla="val 19048"/>
            </a:avLst>
          </a:prstGeom>
          <a:solidFill>
            <a:srgbClr val="AE282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0056" y="201168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content_module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20056" y="2468880"/>
            <a:ext cx="3639312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courses · units → lessons · lesson_progress · enrollments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040380"/>
            <a:ext cx="3968496" cy="845820"/>
          </a:xfrm>
          <a:prstGeom prst="roundRect">
            <a:avLst>
              <a:gd name="adj" fmla="val 864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040380"/>
            <a:ext cx="3968496" cy="384048"/>
          </a:xfrm>
          <a:prstGeom prst="roundRect">
            <a:avLst>
              <a:gd name="adj" fmla="val 19048"/>
            </a:avLst>
          </a:prstGeom>
          <a:solidFill>
            <a:srgbClr val="AE2826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" y="304038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vocabulary_module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0392" y="3497580"/>
            <a:ext cx="3639312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vocabulary · kanji · grammar_patterns · jlpt_levels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55464" y="3040380"/>
            <a:ext cx="3968496" cy="845820"/>
          </a:xfrm>
          <a:prstGeom prst="roundRect">
            <a:avLst>
              <a:gd name="adj" fmla="val 864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55464" y="3040380"/>
            <a:ext cx="3968496" cy="384048"/>
          </a:xfrm>
          <a:prstGeom prst="roundRect">
            <a:avLst>
              <a:gd name="adj" fmla="val 19048"/>
            </a:avLst>
          </a:prstGeom>
          <a:solidFill>
            <a:srgbClr val="AE282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0056" y="304038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exam_module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0056" y="3497580"/>
            <a:ext cx="3639312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quizzes · quiz_questions · quiz_attempts · question_bank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" y="4069080"/>
            <a:ext cx="3968496" cy="845820"/>
          </a:xfrm>
          <a:prstGeom prst="roundRect">
            <a:avLst>
              <a:gd name="adj" fmla="val 864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069080"/>
            <a:ext cx="3968496" cy="384048"/>
          </a:xfrm>
          <a:prstGeom prst="roundRect">
            <a:avLst>
              <a:gd name="adj" fmla="val 19048"/>
            </a:avLst>
          </a:prstGeom>
          <a:solidFill>
            <a:srgbClr val="AE2826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" y="406908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flashcard_module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0392" y="4526280"/>
            <a:ext cx="3639312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flashcard_sets · flashcards · folders · progress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55464" y="4069080"/>
            <a:ext cx="3968496" cy="845820"/>
          </a:xfrm>
          <a:prstGeom prst="roundRect">
            <a:avLst>
              <a:gd name="adj" fmla="val 864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55464" y="4069080"/>
            <a:ext cx="3968496" cy="384048"/>
          </a:xfrm>
          <a:prstGeom prst="roundRect">
            <a:avLst>
              <a:gd name="adj" fmla="val 19048"/>
            </a:avLst>
          </a:prstGeom>
          <a:solidFill>
            <a:srgbClr val="AE282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0056" y="406908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dictionary_module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0056" y="4526280"/>
            <a:ext cx="3639312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dict_entries · dict_senses · dict_kanji · examples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097780"/>
            <a:ext cx="3968496" cy="845820"/>
          </a:xfrm>
          <a:prstGeom prst="roundRect">
            <a:avLst>
              <a:gd name="adj" fmla="val 864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5097780"/>
            <a:ext cx="3968496" cy="384048"/>
          </a:xfrm>
          <a:prstGeom prst="roundRect">
            <a:avLst>
              <a:gd name="adj" fmla="val 19048"/>
            </a:avLst>
          </a:prstGeom>
          <a:solidFill>
            <a:srgbClr val="AE2826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" y="509778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/ materials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50392" y="5554980"/>
            <a:ext cx="3639312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student_dashboards · ai_learning_paths · writing · listening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55464" y="5097780"/>
            <a:ext cx="3968496" cy="845820"/>
          </a:xfrm>
          <a:prstGeom prst="roundRect">
            <a:avLst>
              <a:gd name="adj" fmla="val 8649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55464" y="5097780"/>
            <a:ext cx="3968496" cy="384048"/>
          </a:xfrm>
          <a:prstGeom prst="roundRect">
            <a:avLst>
              <a:gd name="adj" fmla="val 19048"/>
            </a:avLst>
          </a:prstGeom>
          <a:solidFill>
            <a:srgbClr val="141210"/>
          </a:solidFill>
          <a:ln/>
        </p:spPr>
      </p:sp>
      <p:sp>
        <p:nvSpPr>
          <p:cNvPr id="36" name="Text 34"/>
          <p:cNvSpPr/>
          <p:nvPr/>
        </p:nvSpPr>
        <p:spPr>
          <a:xfrm>
            <a:off x="5020056" y="5097780"/>
            <a:ext cx="3639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(compat)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020056" y="5554980"/>
            <a:ext cx="3639312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· learning_paths · subscriptions · payments · views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006840" y="2011680"/>
            <a:ext cx="2496312" cy="3931920"/>
          </a:xfrm>
          <a:prstGeom prst="roundRect">
            <a:avLst>
              <a:gd name="adj" fmla="val 3663"/>
            </a:avLst>
          </a:prstGeom>
          <a:solidFill>
            <a:srgbClr val="AE2826"/>
          </a:solidFill>
          <a:ln/>
        </p:spPr>
      </p:sp>
      <p:sp>
        <p:nvSpPr>
          <p:cNvPr id="39" name="Text 37"/>
          <p:cNvSpPr/>
          <p:nvPr/>
        </p:nvSpPr>
        <p:spPr>
          <a:xfrm>
            <a:off x="9208008" y="228600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
</a:t>
            </a:r>
            <a:r>
              <a:rPr lang="en-US" sz="1100" dirty="0">
                <a:solidFill>
                  <a:srgbClr val="F6E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schemas (+ public)</a:t>
            </a:r>
            <a:endParaRPr lang="en-US" sz="4000" dirty="0"/>
          </a:p>
        </p:txBody>
      </p:sp>
      <p:sp>
        <p:nvSpPr>
          <p:cNvPr id="40" name="Shape 38"/>
          <p:cNvSpPr/>
          <p:nvPr/>
        </p:nvSpPr>
        <p:spPr>
          <a:xfrm>
            <a:off x="9208008" y="3383280"/>
            <a:ext cx="2093976" cy="10973"/>
          </a:xfrm>
          <a:prstGeom prst="rect">
            <a:avLst/>
          </a:prstGeom>
          <a:solidFill>
            <a:srgbClr val="C86A67"/>
          </a:solidFill>
          <a:ln/>
        </p:spPr>
      </p:sp>
      <p:sp>
        <p:nvSpPr>
          <p:cNvPr id="41" name="Text 39"/>
          <p:cNvSpPr/>
          <p:nvPr/>
        </p:nvSpPr>
        <p:spPr>
          <a:xfrm>
            <a:off x="9208008" y="352044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100+
</a:t>
            </a:r>
            <a:r>
              <a:rPr lang="en-US" sz="1100" dirty="0">
                <a:solidFill>
                  <a:srgbClr val="F6E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 across domains</a:t>
            </a:r>
            <a:endParaRPr lang="en-US" sz="4000" dirty="0"/>
          </a:p>
        </p:txBody>
      </p:sp>
      <p:sp>
        <p:nvSpPr>
          <p:cNvPr id="42" name="Shape 40"/>
          <p:cNvSpPr/>
          <p:nvPr/>
        </p:nvSpPr>
        <p:spPr>
          <a:xfrm>
            <a:off x="9208008" y="4617720"/>
            <a:ext cx="2093976" cy="10973"/>
          </a:xfrm>
          <a:prstGeom prst="rect">
            <a:avLst/>
          </a:prstGeom>
          <a:solidFill>
            <a:srgbClr val="C86A67"/>
          </a:solidFill>
          <a:ln/>
        </p:spPr>
      </p:sp>
      <p:sp>
        <p:nvSpPr>
          <p:cNvPr id="43" name="Text 41"/>
          <p:cNvSpPr/>
          <p:nvPr/>
        </p:nvSpPr>
        <p:spPr>
          <a:xfrm>
            <a:off x="9208008" y="4754880"/>
            <a:ext cx="20939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76k+
</a:t>
            </a:r>
            <a:r>
              <a:rPr lang="en-US" sz="1100" dirty="0">
                <a:solidFill>
                  <a:srgbClr val="F6E7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dictionary rows indexed</a:t>
            </a:r>
            <a:endParaRPr lang="en-US" sz="4000" dirty="0"/>
          </a:p>
        </p:txBody>
      </p:sp>
      <p:sp>
        <p:nvSpPr>
          <p:cNvPr id="44" name="Text 42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SYSTEM DESIGN  —  SECURITY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13055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GoTrue JWT. OTP is SHA-256 hashed, expires in 10 min, max 5 attempts, 60s resend cooldown.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68698" y="196596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9866" y="213055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 (RBAC)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in JWT user_metadata.role; frontend Protected/Teacher/Admin routes + backend requireAuth / requireRole.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51597" y="196596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765" y="213055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access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Service-role client only in the trusted backend; RLS on tables; the anon key stays tightly scoped.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06908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423367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🖼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storage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Proctor snapshots, audio &amp; avatars live in private buckets, served via short-lived signed URLs.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68698" y="406908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9866" y="423367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safety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Whitelisted tools; every write action requires user confirmation; AI is locked during exams (BR-11).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51597" y="4069080"/>
            <a:ext cx="3454298" cy="1874520"/>
          </a:xfrm>
          <a:prstGeom prst="roundRect">
            <a:avLst>
              <a:gd name="adj" fmla="val 4878"/>
            </a:avLst>
          </a:prstGeom>
          <a:solidFill>
            <a:srgbClr val="FAF6EF"/>
          </a:solidFill>
          <a:ln w="12700">
            <a:solidFill>
              <a:srgbClr val="E7DDC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52765" y="4233672"/>
            <a:ext cx="3051962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🎥
</a:t>
            </a:r>
            <a:r>
              <a:rPr lang="en-US" sz="14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Proctoring
</a:t>
            </a:r>
            <a:r>
              <a:rPr lang="en-US" sz="1100" dirty="0">
                <a:solidFill>
                  <a:srgbClr val="3A35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Fullscreen lockdown, in-browser face detection and violation logging deter exam cheating.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AE28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10820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10820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it </a:t>
            </a:r>
            <a:r>
              <a:rPr lang="en-US" sz="3200" b="1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action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5800" y="64190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28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· SRS &amp; System Design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62695" y="64190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412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r>
              <a:rPr lang="en-US" sz="950" dirty="0">
                <a:solidFill>
                  <a:srgbClr val="7C71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19</a:t>
            </a:r>
            <a:endParaRPr lang="en-US" sz="95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26FD548-C8BB-51AB-4FF3-D586833D44C1}"/>
              </a:ext>
            </a:extLst>
          </p:cNvPr>
          <p:cNvSpPr/>
          <p:nvPr/>
        </p:nvSpPr>
        <p:spPr>
          <a:xfrm>
            <a:off x="795867" y="1752600"/>
            <a:ext cx="4992285" cy="4191000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F9EBB57-A4B7-14D4-5DC2-9B2697F634B8}"/>
              </a:ext>
            </a:extLst>
          </p:cNvPr>
          <p:cNvSpPr/>
          <p:nvPr/>
        </p:nvSpPr>
        <p:spPr>
          <a:xfrm>
            <a:off x="6095847" y="1837267"/>
            <a:ext cx="2506286" cy="1862666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A4CB9FA-A99A-C4DC-3167-DA31265B5EC2}"/>
              </a:ext>
            </a:extLst>
          </p:cNvPr>
          <p:cNvSpPr/>
          <p:nvPr/>
        </p:nvSpPr>
        <p:spPr>
          <a:xfrm>
            <a:off x="8881152" y="1837267"/>
            <a:ext cx="2506286" cy="1862666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18F67B2-3D48-D749-3519-52F65CCA1111}"/>
              </a:ext>
            </a:extLst>
          </p:cNvPr>
          <p:cNvSpPr/>
          <p:nvPr/>
        </p:nvSpPr>
        <p:spPr>
          <a:xfrm>
            <a:off x="6081509" y="3996267"/>
            <a:ext cx="2506286" cy="1862666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B359A7A-B43A-612B-3358-5A5E949CE383}"/>
              </a:ext>
            </a:extLst>
          </p:cNvPr>
          <p:cNvSpPr/>
          <p:nvPr/>
        </p:nvSpPr>
        <p:spPr>
          <a:xfrm>
            <a:off x="8881152" y="3996267"/>
            <a:ext cx="2506286" cy="1862666"/>
          </a:xfrm>
          <a:prstGeom prst="round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AE2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234440"/>
            <a:ext cx="1234440" cy="1234440"/>
          </a:xfrm>
          <a:prstGeom prst="ellipse">
            <a:avLst/>
          </a:prstGeom>
          <a:ln w="381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0" y="1234440"/>
            <a:ext cx="1234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絆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121916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39319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BED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Kizuna Nihongo — connecting learners to Japanese, with AI.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EDE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Answers      ·      Kizuna Nihongo Team ·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D5E29A1-F019-4EC8-A0BD-FF662FDF5D8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c99870ce-de88-4507-a1b4-213bcf708beb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FEB04A1-4B15-418E-B8A1-8929734EB37C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f6811da2-3dbc-41cb-81bf-c2c5d795842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1905</Words>
  <Application>Microsoft Office PowerPoint</Application>
  <PresentationFormat>Widescreen</PresentationFormat>
  <Paragraphs>235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Kizuna Nihongo — SRS &amp; System Design</dc:title>
  <dc:subject>PptxGenJS Presentation</dc:subject>
  <dc:creator>Kizuna Nihongo Team</dc:creator>
  <cp:lastModifiedBy>Hanh Quyen Le</cp:lastModifiedBy>
  <cp:revision>4</cp:revision>
  <dcterms:created xsi:type="dcterms:W3CDTF">2026-07-21T05:11:08Z</dcterms:created>
  <dcterms:modified xsi:type="dcterms:W3CDTF">2026-07-21T06:22:27Z</dcterms:modified>
</cp:coreProperties>
</file>